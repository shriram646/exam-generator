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Times New Roman" charset="1" panose="02020603050405020304"/>
      <p:regular r:id="rId14"/>
    </p:embeddedFont>
    <p:embeddedFont>
      <p:font typeface="Trade Gothic Condensed" charset="1" panose="020B0506040303020004"/>
      <p:regular r:id="rId18"/>
    </p:embeddedFont>
    <p:embeddedFont>
      <p:font typeface="Trade Gothic Condensed Bold" charset="1" panose="020B0806040303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6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6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6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6.pn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Relationship Id="rId4" Target="../media/image4.jpeg" Type="http://schemas.openxmlformats.org/officeDocument/2006/relationships/image"/><Relationship Id="rId5" Target="../media/image6.pn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" t="0" r="-2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0936" y="1022718"/>
            <a:ext cx="12618720" cy="128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178" r="0" b="-4717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6929" y="-818712"/>
            <a:ext cx="15544800" cy="3143250"/>
            <a:chOff x="0" y="0"/>
            <a:chExt cx="20726400" cy="419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91000"/>
                  </a:lnTo>
                  <a:lnTo>
                    <a:pt x="0" y="419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362" r="0" b="-4636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726400" cy="422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QUANTUM ARENA 1.0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89846" y="2119817"/>
            <a:ext cx="11265629" cy="573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68"/>
              </a:lnSpc>
            </a:pPr>
          </a:p>
          <a:p>
            <a:pPr algn="just" marL="674617" indent="-224872" lvl="2">
              <a:lnSpc>
                <a:spcPts val="7668"/>
              </a:lnSpc>
              <a:buFont typeface="Arial"/>
              <a:buChar char="⚬"/>
            </a:pPr>
            <a:r>
              <a:rPr lang="en-US" b="true" sz="319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-</a:t>
            </a:r>
            <a:r>
              <a:rPr lang="en-US" sz="31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Title-Automatic Exam Paper Generator Based On Syllabus Difficulty</a:t>
            </a:r>
          </a:p>
          <a:p>
            <a:pPr algn="just" marL="674617" indent="-224872" lvl="2">
              <a:lnSpc>
                <a:spcPts val="7668"/>
              </a:lnSpc>
              <a:buFont typeface="Arial"/>
              <a:buChar char="⚬"/>
            </a:pPr>
            <a:r>
              <a:rPr lang="en-US" b="true" sz="319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</a:t>
            </a:r>
            <a:r>
              <a:rPr lang="en-US" sz="31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-Education Technology/Smart Assesment System</a:t>
            </a:r>
          </a:p>
          <a:p>
            <a:pPr algn="just" marL="674617" indent="-224872" lvl="2">
              <a:lnSpc>
                <a:spcPts val="7668"/>
              </a:lnSpc>
              <a:buFont typeface="Arial"/>
              <a:buChar char="⚬"/>
            </a:pPr>
            <a:r>
              <a:rPr lang="en-US" b="true" sz="319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</a:t>
            </a:r>
            <a:r>
              <a:rPr lang="en-US" sz="31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Solution</a:t>
            </a:r>
          </a:p>
          <a:p>
            <a:pPr algn="just" marL="674617" indent="-224872" lvl="2">
              <a:lnSpc>
                <a:spcPts val="7668"/>
              </a:lnSpc>
              <a:buFont typeface="Arial"/>
              <a:buChar char="⚬"/>
            </a:pPr>
            <a:r>
              <a:rPr lang="en-US" b="true" sz="319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– </a:t>
            </a:r>
            <a:r>
              <a:rPr lang="en-US" sz="31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Alkarise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25566" y="3346266"/>
            <a:ext cx="6396990" cy="4549235"/>
            <a:chOff x="0" y="0"/>
            <a:chExt cx="8529320" cy="60656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29320" cy="6065647"/>
            </a:xfrm>
            <a:custGeom>
              <a:avLst/>
              <a:gdLst/>
              <a:ahLst/>
              <a:cxnLst/>
              <a:rect r="r" b="b" t="t" l="l"/>
              <a:pathLst>
                <a:path h="6065647" w="8529320">
                  <a:moveTo>
                    <a:pt x="0" y="0"/>
                  </a:moveTo>
                  <a:lnTo>
                    <a:pt x="8529320" y="0"/>
                  </a:lnTo>
                  <a:lnTo>
                    <a:pt x="8529320" y="6065647"/>
                  </a:lnTo>
                  <a:lnTo>
                    <a:pt x="0" y="6065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88106" y="-19050"/>
            <a:ext cx="3669697" cy="1755076"/>
            <a:chOff x="0" y="0"/>
            <a:chExt cx="4892929" cy="23401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92929" cy="2340102"/>
            </a:xfrm>
            <a:custGeom>
              <a:avLst/>
              <a:gdLst/>
              <a:ahLst/>
              <a:cxnLst/>
              <a:rect r="r" b="b" t="t" l="l"/>
              <a:pathLst>
                <a:path h="2340102" w="4892929">
                  <a:moveTo>
                    <a:pt x="0" y="0"/>
                  </a:moveTo>
                  <a:lnTo>
                    <a:pt x="4892929" y="0"/>
                  </a:lnTo>
                  <a:lnTo>
                    <a:pt x="4892929" y="2340102"/>
                  </a:lnTo>
                  <a:lnTo>
                    <a:pt x="0" y="2340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65933" y="134979"/>
            <a:ext cx="1220057" cy="1798320"/>
            <a:chOff x="0" y="0"/>
            <a:chExt cx="1626743" cy="2397760"/>
          </a:xfrm>
        </p:grpSpPr>
        <p:sp>
          <p:nvSpPr>
            <p:cNvPr name="Freeform 15" id="15" descr="C:\Users\RAGHAV DIGITAL\Downloads\new svg.png"/>
            <p:cNvSpPr/>
            <p:nvPr/>
          </p:nvSpPr>
          <p:spPr>
            <a:xfrm flipH="false" flipV="false" rot="0">
              <a:off x="0" y="0"/>
              <a:ext cx="1626743" cy="2397760"/>
            </a:xfrm>
            <a:custGeom>
              <a:avLst/>
              <a:gdLst/>
              <a:ahLst/>
              <a:cxnLst/>
              <a:rect r="r" b="b" t="t" l="l"/>
              <a:pathLst>
                <a:path h="2397760" w="1626743">
                  <a:moveTo>
                    <a:pt x="0" y="0"/>
                  </a:moveTo>
                  <a:lnTo>
                    <a:pt x="1626743" y="0"/>
                  </a:lnTo>
                  <a:lnTo>
                    <a:pt x="1626743" y="2397760"/>
                  </a:lnTo>
                  <a:lnTo>
                    <a:pt x="0" y="2397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8756" y="-134912"/>
            <a:ext cx="15544800" cy="2205038"/>
            <a:chOff x="0" y="0"/>
            <a:chExt cx="20726400" cy="294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2940050"/>
            </a:xfrm>
            <a:custGeom>
              <a:avLst/>
              <a:gdLst/>
              <a:ahLst/>
              <a:cxnLst/>
              <a:rect r="r" b="b" t="t" l="l"/>
              <a:pathLst>
                <a:path h="294005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40050"/>
                  </a:lnTo>
                  <a:lnTo>
                    <a:pt x="0" y="2940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67" r="0" b="-8726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467" y="577032"/>
            <a:ext cx="11048565" cy="1772184"/>
            <a:chOff x="0" y="0"/>
            <a:chExt cx="14731420" cy="23629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31420" cy="2362913"/>
            </a:xfrm>
            <a:custGeom>
              <a:avLst/>
              <a:gdLst/>
              <a:ahLst/>
              <a:cxnLst/>
              <a:rect r="r" b="b" t="t" l="l"/>
              <a:pathLst>
                <a:path h="2362913" w="14731420">
                  <a:moveTo>
                    <a:pt x="0" y="0"/>
                  </a:moveTo>
                  <a:lnTo>
                    <a:pt x="14731420" y="0"/>
                  </a:lnTo>
                  <a:lnTo>
                    <a:pt x="14731420" y="2362913"/>
                  </a:lnTo>
                  <a:lnTo>
                    <a:pt x="0" y="23629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096" r="-40695" b="-133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4731420" cy="2391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60"/>
                </a:lnSpc>
              </a:pPr>
              <a:r>
                <a:rPr lang="en-US" sz="48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Automatic Exam Paper Generator Based on Syllabus Difficulty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48400" y="9534525"/>
            <a:ext cx="5791200" cy="547688"/>
            <a:chOff x="0" y="0"/>
            <a:chExt cx="7721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21600" cy="730250"/>
            </a:xfrm>
            <a:custGeom>
              <a:avLst/>
              <a:gdLst/>
              <a:ahLst/>
              <a:cxnLst/>
              <a:rect r="r" b="b" t="t" l="l"/>
              <a:pathLst>
                <a:path h="730250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890" r="0" b="-15588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48400" y="9505950"/>
            <a:ext cx="5791200" cy="576262"/>
            <a:chOff x="0" y="0"/>
            <a:chExt cx="7721600" cy="768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21600" cy="768351"/>
            </a:xfrm>
            <a:custGeom>
              <a:avLst/>
              <a:gdLst/>
              <a:ahLst/>
              <a:cxnLst/>
              <a:rect r="r" b="b" t="t" l="l"/>
              <a:pathLst>
                <a:path h="7683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5816" r="0" b="-1458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721600" cy="80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106400" y="9505950"/>
            <a:ext cx="4267200" cy="576262"/>
            <a:chOff x="0" y="0"/>
            <a:chExt cx="5689600" cy="7683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89600" cy="768351"/>
            </a:xfrm>
            <a:custGeom>
              <a:avLst/>
              <a:gdLst/>
              <a:ahLst/>
              <a:cxnLst/>
              <a:rect r="r" b="b" t="t" l="l"/>
              <a:pathLst>
                <a:path h="7683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285" r="0" b="-9428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89600" cy="80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5639" y="94212"/>
            <a:ext cx="3652361" cy="1746790"/>
            <a:chOff x="0" y="0"/>
            <a:chExt cx="4869815" cy="23290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69815" cy="2329053"/>
            </a:xfrm>
            <a:custGeom>
              <a:avLst/>
              <a:gdLst/>
              <a:ahLst/>
              <a:cxnLst/>
              <a:rect r="r" b="b" t="t" l="l"/>
              <a:pathLst>
                <a:path h="2329053" w="4869815">
                  <a:moveTo>
                    <a:pt x="0" y="0"/>
                  </a:moveTo>
                  <a:lnTo>
                    <a:pt x="4869815" y="0"/>
                  </a:lnTo>
                  <a:lnTo>
                    <a:pt x="4869815" y="2329053"/>
                  </a:lnTo>
                  <a:lnTo>
                    <a:pt x="0" y="2329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43367" y="222066"/>
            <a:ext cx="3086100" cy="2204361"/>
            <a:chOff x="0" y="0"/>
            <a:chExt cx="4114800" cy="29391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14800" cy="2939232"/>
            </a:xfrm>
            <a:custGeom>
              <a:avLst/>
              <a:gdLst/>
              <a:ahLst/>
              <a:cxnLst/>
              <a:rect r="r" b="b" t="t" l="l"/>
              <a:pathLst>
                <a:path h="2939232" w="4114800">
                  <a:moveTo>
                    <a:pt x="3797300" y="0"/>
                  </a:moveTo>
                  <a:lnTo>
                    <a:pt x="317500" y="0"/>
                  </a:lnTo>
                  <a:cubicBezTo>
                    <a:pt x="142113" y="0"/>
                    <a:pt x="0" y="142113"/>
                    <a:pt x="0" y="317500"/>
                  </a:cubicBezTo>
                  <a:lnTo>
                    <a:pt x="0" y="2636647"/>
                  </a:lnTo>
                  <a:cubicBezTo>
                    <a:pt x="218821" y="2864993"/>
                    <a:pt x="919226" y="3184652"/>
                    <a:pt x="1969897" y="2636647"/>
                  </a:cubicBezTo>
                  <a:cubicBezTo>
                    <a:pt x="3020568" y="2088642"/>
                    <a:pt x="3837559" y="2408301"/>
                    <a:pt x="4114800" y="2636647"/>
                  </a:cubicBezTo>
                  <a:lnTo>
                    <a:pt x="4114800" y="317500"/>
                  </a:lnTo>
                  <a:cubicBezTo>
                    <a:pt x="4114800" y="142113"/>
                    <a:pt x="3972687" y="0"/>
                    <a:pt x="37973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43367" y="33128"/>
            <a:ext cx="3086100" cy="1920935"/>
            <a:chOff x="0" y="0"/>
            <a:chExt cx="4114800" cy="25612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14800" cy="2561253"/>
            </a:xfrm>
            <a:custGeom>
              <a:avLst/>
              <a:gdLst/>
              <a:ahLst/>
              <a:cxnLst/>
              <a:rect r="r" b="b" t="t" l="l"/>
              <a:pathLst>
                <a:path h="2561253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2561253"/>
                  </a:lnTo>
                  <a:lnTo>
                    <a:pt x="0" y="256125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862" t="0" r="-2986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114800" cy="2599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Ttt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74174" y="297942"/>
            <a:ext cx="2986002" cy="1929432"/>
          </a:xfrm>
          <a:custGeom>
            <a:avLst/>
            <a:gdLst/>
            <a:ahLst/>
            <a:cxnLst/>
            <a:rect r="r" b="b" t="t" l="l"/>
            <a:pathLst>
              <a:path h="1929432" w="2986002">
                <a:moveTo>
                  <a:pt x="0" y="0"/>
                </a:moveTo>
                <a:lnTo>
                  <a:pt x="2986002" y="0"/>
                </a:lnTo>
                <a:lnTo>
                  <a:pt x="2986002" y="1929432"/>
                </a:lnTo>
                <a:lnTo>
                  <a:pt x="0" y="19294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43367" y="2599883"/>
            <a:ext cx="15120511" cy="702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</a:t>
            </a:r>
            <a:r>
              <a:rPr lang="en-US" sz="287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Problem Statement :-</a:t>
            </a:r>
          </a:p>
          <a:p>
            <a:pPr algn="l" marL="607475" indent="-202492" lvl="2">
              <a:lnSpc>
                <a:spcPts val="3455"/>
              </a:lnSpc>
              <a:buFont typeface="Arial"/>
              <a:buChar char="⚬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Questions papers manually is slow, repetitive and stressful task for teachers. Maintaining fairness and syllabus coverage is difficult.</a:t>
            </a:r>
          </a:p>
          <a:p>
            <a:pPr algn="l" marL="607841" indent="-202614" lvl="2">
              <a:lnSpc>
                <a:spcPts val="3455"/>
              </a:lnSpc>
              <a:buFont typeface="Arial"/>
              <a:buChar char="⚬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exam papers manually takes a lot of time and effort. It is difficult to create a paper that covers all syllabus topics and has the right difficulty level.</a:t>
            </a:r>
          </a:p>
          <a:p>
            <a:pPr algn="l" marL="607841" indent="-202614" lvl="2">
              <a:lnSpc>
                <a:spcPts val="3455"/>
              </a:lnSpc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</a:p>
          <a:p>
            <a:pPr algn="l">
              <a:lnSpc>
                <a:spcPts val="3455"/>
              </a:lnSpc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b="true" sz="287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Main Problem:</a:t>
            </a:r>
          </a:p>
          <a:p>
            <a:pPr algn="l" marL="607475" indent="-202492" lvl="2">
              <a:lnSpc>
                <a:spcPts val="3455"/>
              </a:lnSpc>
              <a:buFont typeface="Arial"/>
              <a:buChar char="⚬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paper setting is slow</a:t>
            </a:r>
          </a:p>
          <a:p>
            <a:pPr algn="l" marL="607475" indent="-202492" lvl="2">
              <a:lnSpc>
                <a:spcPts val="3455"/>
              </a:lnSpc>
              <a:buFont typeface="Arial"/>
              <a:buChar char="⚬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Repeated questions may come in exams</a:t>
            </a:r>
          </a:p>
          <a:p>
            <a:pPr algn="l" marL="607475" indent="-202492" lvl="2">
              <a:lnSpc>
                <a:spcPts val="3455"/>
              </a:lnSpc>
              <a:buFont typeface="Arial"/>
              <a:buChar char="⚬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level is not balanced</a:t>
            </a:r>
          </a:p>
          <a:p>
            <a:pPr algn="l" marL="607475" indent="-202492" lvl="2">
              <a:lnSpc>
                <a:spcPts val="3455"/>
              </a:lnSpc>
              <a:buFont typeface="Arial"/>
              <a:buChar char="⚬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syllabus topics may be missed</a:t>
            </a:r>
          </a:p>
          <a:p>
            <a:pPr algn="l" marL="607475" indent="-202492" lvl="2">
              <a:lnSpc>
                <a:spcPts val="3455"/>
              </a:lnSpc>
              <a:buFont typeface="Arial"/>
              <a:buChar char="⚬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Mistakes in marks or question selection</a:t>
            </a:r>
          </a:p>
          <a:p>
            <a:pPr algn="l" marL="607475" indent="-202492" lvl="2">
              <a:lnSpc>
                <a:spcPts val="3455"/>
              </a:lnSpc>
              <a:buFont typeface="Arial"/>
              <a:buChar char="⚬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teachers may set different standards</a:t>
            </a:r>
          </a:p>
          <a:p>
            <a:pPr algn="l" marL="607841" indent="-202614" lvl="2">
              <a:lnSpc>
                <a:spcPts val="3455"/>
              </a:lnSpc>
              <a:buFont typeface="Arial"/>
              <a:buChar char="⚬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Last-minute paper making creates stress</a:t>
            </a:r>
          </a:p>
          <a:p>
            <a:pPr algn="l" marL="607841" indent="-202614" lvl="2">
              <a:lnSpc>
                <a:spcPts val="3455"/>
              </a:lnSpc>
              <a:buFont typeface="Arial"/>
              <a:buChar char="⚬"/>
            </a:pPr>
            <a:r>
              <a:rPr lang="en-US" sz="28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 of Standarization between classes</a:t>
            </a:r>
          </a:p>
          <a:p>
            <a:pPr algn="l" marL="607841" indent="-202614" lvl="2">
              <a:lnSpc>
                <a:spcPts val="3455"/>
              </a:lnSpc>
            </a:pP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708011" y="4993468"/>
            <a:ext cx="9551289" cy="5453757"/>
          </a:xfrm>
          <a:custGeom>
            <a:avLst/>
            <a:gdLst/>
            <a:ahLst/>
            <a:cxnLst/>
            <a:rect r="r" b="b" t="t" l="l"/>
            <a:pathLst>
              <a:path h="5453757" w="9551289">
                <a:moveTo>
                  <a:pt x="0" y="0"/>
                </a:moveTo>
                <a:lnTo>
                  <a:pt x="9551289" y="0"/>
                </a:lnTo>
                <a:lnTo>
                  <a:pt x="9551289" y="5453757"/>
                </a:lnTo>
                <a:lnTo>
                  <a:pt x="0" y="54537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28713" y="1009650"/>
            <a:ext cx="2102838" cy="45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2"/>
              </a:lnSpc>
            </a:pPr>
            <a:r>
              <a:rPr lang="en-US" sz="2901" b="true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Alkarise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00" y="0"/>
            <a:ext cx="15544800" cy="2205038"/>
            <a:chOff x="0" y="0"/>
            <a:chExt cx="20726400" cy="294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2940050"/>
            </a:xfrm>
            <a:custGeom>
              <a:avLst/>
              <a:gdLst/>
              <a:ahLst/>
              <a:cxnLst/>
              <a:rect r="r" b="b" t="t" l="l"/>
              <a:pathLst>
                <a:path h="294005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40050"/>
                  </a:lnTo>
                  <a:lnTo>
                    <a:pt x="0" y="2940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67" r="0" b="-8726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28800" y="-21431"/>
            <a:ext cx="15544800" cy="2226469"/>
            <a:chOff x="0" y="0"/>
            <a:chExt cx="20726400" cy="2968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2968626"/>
            </a:xfrm>
            <a:custGeom>
              <a:avLst/>
              <a:gdLst/>
              <a:ahLst/>
              <a:cxnLst/>
              <a:rect r="r" b="b" t="t" l="l"/>
              <a:pathLst>
                <a:path h="2968626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68626"/>
                  </a:lnTo>
                  <a:lnTo>
                    <a:pt x="0" y="2968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040" r="0" b="-8604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726400" cy="299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48400" y="9534525"/>
            <a:ext cx="5791200" cy="547688"/>
            <a:chOff x="0" y="0"/>
            <a:chExt cx="7721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21600" cy="730250"/>
            </a:xfrm>
            <a:custGeom>
              <a:avLst/>
              <a:gdLst/>
              <a:ahLst/>
              <a:cxnLst/>
              <a:rect r="r" b="b" t="t" l="l"/>
              <a:pathLst>
                <a:path h="730250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890" r="0" b="-15588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48400" y="9505950"/>
            <a:ext cx="5791200" cy="576262"/>
            <a:chOff x="0" y="0"/>
            <a:chExt cx="7721600" cy="768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21600" cy="768351"/>
            </a:xfrm>
            <a:custGeom>
              <a:avLst/>
              <a:gdLst/>
              <a:ahLst/>
              <a:cxnLst/>
              <a:rect r="r" b="b" t="t" l="l"/>
              <a:pathLst>
                <a:path h="7683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5816" r="0" b="-1458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721600" cy="80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106400" y="9505950"/>
            <a:ext cx="4267200" cy="576262"/>
            <a:chOff x="0" y="0"/>
            <a:chExt cx="5689600" cy="7683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89600" cy="768351"/>
            </a:xfrm>
            <a:custGeom>
              <a:avLst/>
              <a:gdLst/>
              <a:ahLst/>
              <a:cxnLst/>
              <a:rect r="r" b="b" t="t" l="l"/>
              <a:pathLst>
                <a:path h="7683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285" r="0" b="-9428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89600" cy="80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5225" y="117558"/>
            <a:ext cx="3612737" cy="1727835"/>
            <a:chOff x="0" y="0"/>
            <a:chExt cx="4816983" cy="23037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16983" cy="2303780"/>
            </a:xfrm>
            <a:custGeom>
              <a:avLst/>
              <a:gdLst/>
              <a:ahLst/>
              <a:cxnLst/>
              <a:rect r="r" b="b" t="t" l="l"/>
              <a:pathLst>
                <a:path h="2303780" w="4816983">
                  <a:moveTo>
                    <a:pt x="0" y="0"/>
                  </a:moveTo>
                  <a:lnTo>
                    <a:pt x="4816983" y="0"/>
                  </a:lnTo>
                  <a:lnTo>
                    <a:pt x="4816983" y="2303780"/>
                  </a:lnTo>
                  <a:lnTo>
                    <a:pt x="0" y="2303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503082" y="242135"/>
            <a:ext cx="2651446" cy="1962902"/>
          </a:xfrm>
          <a:custGeom>
            <a:avLst/>
            <a:gdLst/>
            <a:ahLst/>
            <a:cxnLst/>
            <a:rect r="r" b="b" t="t" l="l"/>
            <a:pathLst>
              <a:path h="1962902" w="2651446">
                <a:moveTo>
                  <a:pt x="0" y="0"/>
                </a:moveTo>
                <a:lnTo>
                  <a:pt x="2651446" y="0"/>
                </a:lnTo>
                <a:lnTo>
                  <a:pt x="2651446" y="1962903"/>
                </a:lnTo>
                <a:lnTo>
                  <a:pt x="0" y="19629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6156" y="2493468"/>
            <a:ext cx="15093844" cy="1142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992" b="true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🔹 Technologies Used:-</a:t>
            </a:r>
          </a:p>
          <a:p>
            <a:pPr algn="l" marL="588393" indent="-196131" lvl="2">
              <a:lnSpc>
                <a:spcPts val="3347"/>
              </a:lnSpc>
              <a:buFont typeface="Arial"/>
              <a:buChar char="⚬"/>
            </a:pPr>
            <a:r>
              <a:rPr lang="en-US" sz="2789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Programming: PHP</a:t>
            </a:r>
          </a:p>
          <a:p>
            <a:pPr algn="l" marL="588393" indent="-196131" lvl="2">
              <a:lnSpc>
                <a:spcPts val="3347"/>
              </a:lnSpc>
              <a:buFont typeface="Arial"/>
              <a:buChar char="⚬"/>
            </a:pPr>
            <a:r>
              <a:rPr lang="en-US" sz="2789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MySQL</a:t>
            </a:r>
          </a:p>
          <a:p>
            <a:pPr algn="l" marL="588393" indent="-196131" lvl="2">
              <a:lnSpc>
                <a:spcPts val="3347"/>
              </a:lnSpc>
              <a:buFont typeface="Arial"/>
              <a:buChar char="⚬"/>
            </a:pPr>
            <a:r>
              <a:rPr lang="en-US" sz="2789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HTML, CSS</a:t>
            </a:r>
          </a:p>
          <a:p>
            <a:pPr algn="l" marL="588393" indent="-196131" lvl="2">
              <a:lnSpc>
                <a:spcPts val="3347"/>
              </a:lnSpc>
              <a:buFont typeface="Arial"/>
              <a:buChar char="⚬"/>
            </a:pPr>
            <a:r>
              <a:rPr lang="en-US" sz="2789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Server: XAMPP</a:t>
            </a:r>
          </a:p>
          <a:p>
            <a:pPr algn="l" marL="588393" indent="-196131" lvl="2">
              <a:lnSpc>
                <a:spcPts val="3347"/>
              </a:lnSpc>
              <a:buFont typeface="Arial"/>
              <a:buChar char="⚬"/>
            </a:pPr>
            <a:r>
              <a:rPr lang="en-US" sz="2789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 Code</a:t>
            </a:r>
          </a:p>
          <a:p>
            <a:pPr algn="l" marL="588747" indent="-196249" lvl="2">
              <a:lnSpc>
                <a:spcPts val="3347"/>
              </a:lnSpc>
              <a:buFont typeface="Arial"/>
              <a:buChar char="⚬"/>
            </a:pPr>
          </a:p>
          <a:p>
            <a:pPr algn="l" marL="502039" indent="-167346" lvl="2">
              <a:lnSpc>
                <a:spcPts val="2854"/>
              </a:lnSpc>
            </a:pPr>
          </a:p>
          <a:p>
            <a:pPr algn="l">
              <a:lnSpc>
                <a:spcPts val="3467"/>
              </a:lnSpc>
            </a:pPr>
            <a:r>
              <a:rPr lang="en-US" sz="2889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</a:t>
            </a:r>
            <a:r>
              <a:rPr lang="en-US" b="true" sz="2889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Working Steps:-</a:t>
            </a:r>
          </a:p>
          <a:p>
            <a:pPr algn="l">
              <a:lnSpc>
                <a:spcPts val="3467"/>
              </a:lnSpc>
            </a:pPr>
          </a:p>
          <a:p>
            <a:pPr algn="l" marL="566729" indent="-188910" lvl="2">
              <a:lnSpc>
                <a:spcPts val="3223"/>
              </a:lnSpc>
              <a:buFont typeface="Arial"/>
              <a:buChar char="⚬"/>
            </a:pPr>
            <a:r>
              <a:rPr lang="en-US" sz="268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Teacher enters subject name and exam details</a:t>
            </a:r>
          </a:p>
          <a:p>
            <a:pPr algn="l" marL="566729" indent="-188910" lvl="2">
              <a:lnSpc>
                <a:spcPts val="3223"/>
              </a:lnSpc>
              <a:buFont typeface="Arial"/>
              <a:buChar char="⚬"/>
            </a:pPr>
            <a:r>
              <a:rPr lang="en-US" sz="268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Selects syllabus topics and weightage</a:t>
            </a:r>
          </a:p>
          <a:p>
            <a:pPr algn="l" marL="566729" indent="-188910" lvl="2">
              <a:lnSpc>
                <a:spcPts val="3223"/>
              </a:lnSpc>
              <a:buFont typeface="Arial"/>
              <a:buChar char="⚬"/>
            </a:pPr>
            <a:r>
              <a:rPr lang="en-US" sz="268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Chooses difficulty level (Easy / Medium / Hard)</a:t>
            </a:r>
          </a:p>
          <a:p>
            <a:pPr algn="l" marL="566729" indent="-188910" lvl="2">
              <a:lnSpc>
                <a:spcPts val="3223"/>
              </a:lnSpc>
              <a:buFont typeface="Arial"/>
              <a:buChar char="⚬"/>
            </a:pPr>
            <a:r>
              <a:rPr lang="en-US" sz="268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checks the question bank</a:t>
            </a:r>
          </a:p>
          <a:p>
            <a:pPr algn="l" marL="566729" indent="-188910" lvl="2">
              <a:lnSpc>
                <a:spcPts val="3223"/>
              </a:lnSpc>
              <a:buFont typeface="Arial"/>
              <a:buChar char="⚬"/>
            </a:pPr>
            <a:r>
              <a:rPr lang="en-US" sz="268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 are selected randomly as per rules</a:t>
            </a:r>
          </a:p>
          <a:p>
            <a:pPr algn="l" marL="566729" indent="-188910" lvl="2">
              <a:lnSpc>
                <a:spcPts val="3223"/>
              </a:lnSpc>
              <a:buFont typeface="Arial"/>
              <a:buChar char="⚬"/>
            </a:pPr>
            <a:r>
              <a:rPr lang="en-US" sz="268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 questions are removed</a:t>
            </a:r>
          </a:p>
          <a:p>
            <a:pPr algn="l" marL="566729" indent="-188910" lvl="2">
              <a:lnSpc>
                <a:spcPts val="3223"/>
              </a:lnSpc>
              <a:buFont typeface="Arial"/>
              <a:buChar char="⚬"/>
            </a:pPr>
            <a:r>
              <a:rPr lang="en-US" sz="268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Balanced paper is created automatically</a:t>
            </a:r>
          </a:p>
          <a:p>
            <a:pPr algn="l" marL="566729" indent="-188910" lvl="2">
              <a:lnSpc>
                <a:spcPts val="3223"/>
              </a:lnSpc>
              <a:buFont typeface="Arial"/>
              <a:buChar char="⚬"/>
            </a:pPr>
            <a:r>
              <a:rPr lang="en-US" sz="268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question paper is generated in PDF format</a:t>
            </a:r>
          </a:p>
          <a:p>
            <a:pPr algn="l" marL="501737" indent="-167246" lvl="2">
              <a:lnSpc>
                <a:spcPts val="2854"/>
              </a:lnSpc>
              <a:buFont typeface="Arial"/>
              <a:buChar char="⚬"/>
            </a:pPr>
          </a:p>
          <a:p>
            <a:pPr algn="l" marL="501737" indent="-167246" lvl="2">
              <a:lnSpc>
                <a:spcPts val="2854"/>
              </a:lnSpc>
              <a:buFont typeface="Arial"/>
              <a:buChar char="⚬"/>
            </a:pPr>
          </a:p>
          <a:p>
            <a:pPr algn="l" marL="501737" indent="-167246" lvl="2">
              <a:lnSpc>
                <a:spcPts val="2854"/>
              </a:lnSpc>
              <a:buFont typeface="Arial"/>
              <a:buChar char="⚬"/>
            </a:pPr>
          </a:p>
          <a:p>
            <a:pPr algn="l" marL="501737" indent="-167246" lvl="2">
              <a:lnSpc>
                <a:spcPts val="2854"/>
              </a:lnSpc>
              <a:buFont typeface="Arial"/>
              <a:buChar char="⚬"/>
            </a:pPr>
          </a:p>
          <a:p>
            <a:pPr algn="l" marL="501737" indent="-167246" lvl="2">
              <a:lnSpc>
                <a:spcPts val="2854"/>
              </a:lnSpc>
              <a:buFont typeface="Arial"/>
              <a:buChar char="⚬"/>
            </a:pPr>
          </a:p>
          <a:p>
            <a:pPr algn="l" marL="501737" indent="-167246" lvl="2">
              <a:lnSpc>
                <a:spcPts val="2854"/>
              </a:lnSpc>
              <a:buFont typeface="Arial"/>
              <a:buChar char="⚬"/>
            </a:pPr>
          </a:p>
          <a:p>
            <a:pPr algn="l" marL="501737" indent="-167246" lvl="2">
              <a:lnSpc>
                <a:spcPts val="2854"/>
              </a:lnSpc>
              <a:buFont typeface="Arial"/>
              <a:buChar char="⚬"/>
            </a:pPr>
          </a:p>
          <a:p>
            <a:pPr algn="l" marL="501737" indent="-167246" lvl="2">
              <a:lnSpc>
                <a:spcPts val="2854"/>
              </a:lnSpc>
              <a:buFont typeface="Arial"/>
              <a:buChar char="⚬"/>
            </a:pPr>
          </a:p>
          <a:p>
            <a:pPr algn="l" marL="502039" indent="-167346" lvl="2">
              <a:lnSpc>
                <a:spcPts val="2854"/>
              </a:lnSpc>
              <a:buFont typeface="Arial"/>
              <a:buChar char="⚬"/>
            </a:pPr>
          </a:p>
          <a:p>
            <a:pPr algn="l" marL="502039" indent="-167346" lvl="2">
              <a:lnSpc>
                <a:spcPts val="2854"/>
              </a:lnSpc>
            </a:pPr>
          </a:p>
          <a:p>
            <a:pPr algn="l" marL="502039" indent="-167346" lvl="2">
              <a:lnSpc>
                <a:spcPts val="2854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693078" y="2497064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89" y="0"/>
                </a:lnTo>
                <a:lnTo>
                  <a:pt x="10075289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28729" y="839383"/>
            <a:ext cx="2000143" cy="49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8"/>
              </a:lnSpc>
            </a:pPr>
            <a:r>
              <a:rPr lang="en-US" sz="3132" b="true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Alkarise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359" y="56264"/>
            <a:ext cx="15544800" cy="2205038"/>
            <a:chOff x="0" y="0"/>
            <a:chExt cx="20726400" cy="294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2940050"/>
            </a:xfrm>
            <a:custGeom>
              <a:avLst/>
              <a:gdLst/>
              <a:ahLst/>
              <a:cxnLst/>
              <a:rect r="r" b="b" t="t" l="l"/>
              <a:pathLst>
                <a:path h="294005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40050"/>
                  </a:lnTo>
                  <a:lnTo>
                    <a:pt x="0" y="2940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67" r="0" b="-8726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8359" y="34833"/>
            <a:ext cx="15544800" cy="2226469"/>
            <a:chOff x="0" y="0"/>
            <a:chExt cx="20726400" cy="2968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2968626"/>
            </a:xfrm>
            <a:custGeom>
              <a:avLst/>
              <a:gdLst/>
              <a:ahLst/>
              <a:cxnLst/>
              <a:rect r="r" b="b" t="t" l="l"/>
              <a:pathLst>
                <a:path h="2968626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68626"/>
                  </a:lnTo>
                  <a:lnTo>
                    <a:pt x="0" y="2968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040" r="0" b="-8604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726400" cy="299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48400" y="9534525"/>
            <a:ext cx="5791200" cy="547688"/>
            <a:chOff x="0" y="0"/>
            <a:chExt cx="7721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21600" cy="730250"/>
            </a:xfrm>
            <a:custGeom>
              <a:avLst/>
              <a:gdLst/>
              <a:ahLst/>
              <a:cxnLst/>
              <a:rect r="r" b="b" t="t" l="l"/>
              <a:pathLst>
                <a:path h="730250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890" r="0" b="-15588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48400" y="9505950"/>
            <a:ext cx="5791200" cy="576262"/>
            <a:chOff x="0" y="0"/>
            <a:chExt cx="7721600" cy="768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21600" cy="768351"/>
            </a:xfrm>
            <a:custGeom>
              <a:avLst/>
              <a:gdLst/>
              <a:ahLst/>
              <a:cxnLst/>
              <a:rect r="r" b="b" t="t" l="l"/>
              <a:pathLst>
                <a:path h="7683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5816" r="0" b="-1458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721600" cy="80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106400" y="9505950"/>
            <a:ext cx="4267200" cy="576262"/>
            <a:chOff x="0" y="0"/>
            <a:chExt cx="5689600" cy="7683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89600" cy="768351"/>
            </a:xfrm>
            <a:custGeom>
              <a:avLst/>
              <a:gdLst/>
              <a:ahLst/>
              <a:cxnLst/>
              <a:rect r="r" b="b" t="t" l="l"/>
              <a:pathLst>
                <a:path h="7683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285" r="0" b="-9428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89600" cy="80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523920" y="56264"/>
            <a:ext cx="3584829" cy="1714500"/>
            <a:chOff x="0" y="0"/>
            <a:chExt cx="4779772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79772" cy="2286000"/>
            </a:xfrm>
            <a:custGeom>
              <a:avLst/>
              <a:gdLst/>
              <a:ahLst/>
              <a:cxnLst/>
              <a:rect r="r" b="b" t="t" l="l"/>
              <a:pathLst>
                <a:path h="2286000" w="4779772">
                  <a:moveTo>
                    <a:pt x="0" y="0"/>
                  </a:moveTo>
                  <a:lnTo>
                    <a:pt x="4779772" y="0"/>
                  </a:lnTo>
                  <a:lnTo>
                    <a:pt x="4779772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248726" y="313449"/>
            <a:ext cx="3086100" cy="1947853"/>
          </a:xfrm>
          <a:custGeom>
            <a:avLst/>
            <a:gdLst/>
            <a:ahLst/>
            <a:cxnLst/>
            <a:rect r="r" b="b" t="t" l="l"/>
            <a:pathLst>
              <a:path h="1947853" w="3086100">
                <a:moveTo>
                  <a:pt x="0" y="0"/>
                </a:moveTo>
                <a:lnTo>
                  <a:pt x="3086100" y="0"/>
                </a:lnTo>
                <a:lnTo>
                  <a:pt x="3086100" y="1947853"/>
                </a:lnTo>
                <a:lnTo>
                  <a:pt x="0" y="19478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819449" y="3365353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89" y="0"/>
                </a:lnTo>
                <a:lnTo>
                  <a:pt x="10075289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0" y="2242252"/>
            <a:ext cx="10596103" cy="1209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</a:t>
            </a:r>
            <a:r>
              <a:rPr lang="en-US" sz="294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determines whether your system is:-</a:t>
            </a:r>
          </a:p>
          <a:p>
            <a:pPr algn="l" marL="672709" indent="-224236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project is practical, simple to build, and useful for schools and colleges.</a:t>
            </a:r>
          </a:p>
          <a:p>
            <a:pPr algn="l" marL="672709" indent="-224236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Is Feasible:</a:t>
            </a:r>
          </a:p>
          <a:p>
            <a:pPr algn="l" marL="672709" indent="-224236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low-cost and free software tools</a:t>
            </a:r>
          </a:p>
          <a:p>
            <a:pPr algn="l" marL="672709" indent="-224236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develop and maintain</a:t>
            </a:r>
          </a:p>
          <a:p>
            <a:pPr algn="l" marL="672709" indent="-224236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run on laptop or desktop</a:t>
            </a:r>
          </a:p>
          <a:p>
            <a:pPr algn="l" marL="672709" indent="-224236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database for storing questions</a:t>
            </a:r>
          </a:p>
          <a:p>
            <a:pPr algn="l" marL="672709" indent="-224236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used by schools and colleges</a:t>
            </a:r>
          </a:p>
          <a:p>
            <a:pPr algn="l" marL="672709" indent="-224236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update new questions anytime</a:t>
            </a:r>
          </a:p>
          <a:p>
            <a:pPr algn="l" marL="672775" indent="-224258" lvl="2">
              <a:lnSpc>
                <a:spcPts val="3531"/>
              </a:lnSpc>
            </a:pPr>
          </a:p>
          <a:p>
            <a:pPr algn="l">
              <a:lnSpc>
                <a:spcPts val="3531"/>
              </a:lnSpc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</a:t>
            </a:r>
            <a:r>
              <a:rPr lang="en-US" b="true" sz="29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Challenges:-</a:t>
            </a:r>
          </a:p>
          <a:p>
            <a:pPr algn="l" marL="621135" indent="-207045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number of questions in question bank</a:t>
            </a:r>
          </a:p>
          <a:p>
            <a:pPr algn="l" marL="621135" indent="-207045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Wrong difficulty level assigned to questions</a:t>
            </a:r>
          </a:p>
          <a:p>
            <a:pPr algn="l" marL="621135" indent="-207045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Repetition if database is small</a:t>
            </a:r>
          </a:p>
          <a:p>
            <a:pPr algn="l" marL="621135" indent="-207045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some syllabus topics</a:t>
            </a:r>
          </a:p>
          <a:p>
            <a:pPr algn="l" marL="621135" indent="-207045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 performance with large data</a:t>
            </a:r>
          </a:p>
          <a:p>
            <a:pPr algn="l" marL="621135" indent="-207045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 in PDF formatting</a:t>
            </a:r>
          </a:p>
          <a:p>
            <a:pPr algn="l" marL="621135" indent="-207045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regular updates in question bank</a:t>
            </a:r>
          </a:p>
          <a:p>
            <a:pPr algn="l" marL="621135" indent="-207045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exam patterns for different subjects</a:t>
            </a:r>
          </a:p>
          <a:p>
            <a:pPr algn="l" marL="621135" indent="-207045" lvl="2">
              <a:lnSpc>
                <a:spcPts val="3528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may enter wrong input details</a:t>
            </a:r>
          </a:p>
          <a:p>
            <a:pPr algn="l" marL="621189" indent="-207063" lvl="2">
              <a:lnSpc>
                <a:spcPts val="3531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security and backup management</a:t>
            </a:r>
          </a:p>
          <a:p>
            <a:pPr algn="l">
              <a:lnSpc>
                <a:spcPts val="3531"/>
              </a:lnSpc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🔹 </a:t>
            </a:r>
            <a:r>
              <a:rPr lang="en-US" b="true" sz="294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Solutions:-</a:t>
            </a:r>
          </a:p>
          <a:p>
            <a:pPr algn="l" marL="621189" indent="-207063" lvl="2">
              <a:lnSpc>
                <a:spcPts val="3531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AI model training for accuracy</a:t>
            </a:r>
          </a:p>
          <a:p>
            <a:pPr algn="l" marL="621189" indent="-207063" lvl="2">
              <a:lnSpc>
                <a:spcPts val="3531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database with encryption</a:t>
            </a:r>
          </a:p>
          <a:p>
            <a:pPr algn="l" marL="621189" indent="-207063" lvl="2">
              <a:lnSpc>
                <a:spcPts val="3531"/>
              </a:lnSpc>
              <a:buFont typeface="Arial"/>
              <a:buChar char="⚬"/>
            </a:pPr>
            <a:r>
              <a:rPr lang="en-US" sz="29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 attendance system</a:t>
            </a:r>
          </a:p>
          <a:p>
            <a:pPr algn="l" marL="621189" indent="-207063" lvl="2">
              <a:lnSpc>
                <a:spcPts val="3531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656654" y="942975"/>
            <a:ext cx="2270246" cy="59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2"/>
              </a:lnSpc>
            </a:pPr>
            <a:r>
              <a:rPr lang="en-US" sz="332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Alkarise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9871" y="0"/>
            <a:ext cx="15544800" cy="2205038"/>
            <a:chOff x="0" y="0"/>
            <a:chExt cx="20726400" cy="294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2940050"/>
            </a:xfrm>
            <a:custGeom>
              <a:avLst/>
              <a:gdLst/>
              <a:ahLst/>
              <a:cxnLst/>
              <a:rect r="r" b="b" t="t" l="l"/>
              <a:pathLst>
                <a:path h="294005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40050"/>
                  </a:lnTo>
                  <a:lnTo>
                    <a:pt x="0" y="2940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67" r="0" b="-8726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9871" y="-21431"/>
            <a:ext cx="15544800" cy="2226469"/>
            <a:chOff x="0" y="0"/>
            <a:chExt cx="20726400" cy="2968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2968626"/>
            </a:xfrm>
            <a:custGeom>
              <a:avLst/>
              <a:gdLst/>
              <a:ahLst/>
              <a:cxnLst/>
              <a:rect r="r" b="b" t="t" l="l"/>
              <a:pathLst>
                <a:path h="2968626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68626"/>
                  </a:lnTo>
                  <a:lnTo>
                    <a:pt x="0" y="2968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040" r="0" b="-8604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726400" cy="299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48400" y="9534525"/>
            <a:ext cx="5791200" cy="547688"/>
            <a:chOff x="0" y="0"/>
            <a:chExt cx="7721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21600" cy="730250"/>
            </a:xfrm>
            <a:custGeom>
              <a:avLst/>
              <a:gdLst/>
              <a:ahLst/>
              <a:cxnLst/>
              <a:rect r="r" b="b" t="t" l="l"/>
              <a:pathLst>
                <a:path h="730250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890" r="0" b="-15588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48400" y="9505950"/>
            <a:ext cx="5791200" cy="576262"/>
            <a:chOff x="0" y="0"/>
            <a:chExt cx="7721600" cy="768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21600" cy="768351"/>
            </a:xfrm>
            <a:custGeom>
              <a:avLst/>
              <a:gdLst/>
              <a:ahLst/>
              <a:cxnLst/>
              <a:rect r="r" b="b" t="t" l="l"/>
              <a:pathLst>
                <a:path h="7683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5816" r="0" b="-1458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721600" cy="80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106400" y="9505950"/>
            <a:ext cx="4267200" cy="576262"/>
            <a:chOff x="0" y="0"/>
            <a:chExt cx="5689600" cy="7683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89600" cy="768351"/>
            </a:xfrm>
            <a:custGeom>
              <a:avLst/>
              <a:gdLst/>
              <a:ahLst/>
              <a:cxnLst/>
              <a:rect r="r" b="b" t="t" l="l"/>
              <a:pathLst>
                <a:path h="7683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285" r="0" b="-9428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89600" cy="80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04387" y="46930"/>
            <a:ext cx="3683603" cy="1761744"/>
            <a:chOff x="0" y="0"/>
            <a:chExt cx="4911471" cy="23489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11471" cy="2348992"/>
            </a:xfrm>
            <a:custGeom>
              <a:avLst/>
              <a:gdLst/>
              <a:ahLst/>
              <a:cxnLst/>
              <a:rect r="r" b="b" t="t" l="l"/>
              <a:pathLst>
                <a:path h="2348992" w="4911471">
                  <a:moveTo>
                    <a:pt x="0" y="0"/>
                  </a:moveTo>
                  <a:lnTo>
                    <a:pt x="4911471" y="0"/>
                  </a:lnTo>
                  <a:lnTo>
                    <a:pt x="4911471" y="2348992"/>
                  </a:lnTo>
                  <a:lnTo>
                    <a:pt x="0" y="2348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302028" y="371570"/>
            <a:ext cx="3086100" cy="1833467"/>
          </a:xfrm>
          <a:custGeom>
            <a:avLst/>
            <a:gdLst/>
            <a:ahLst/>
            <a:cxnLst/>
            <a:rect r="r" b="b" t="t" l="l"/>
            <a:pathLst>
              <a:path h="1833467" w="3086100">
                <a:moveTo>
                  <a:pt x="0" y="0"/>
                </a:moveTo>
                <a:lnTo>
                  <a:pt x="3086100" y="0"/>
                </a:lnTo>
                <a:lnTo>
                  <a:pt x="3086100" y="1833468"/>
                </a:lnTo>
                <a:lnTo>
                  <a:pt x="0" y="1833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36524" y="2185988"/>
            <a:ext cx="13584615" cy="9691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306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64" b="true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 Impact of the System:</a:t>
            </a:r>
          </a:p>
          <a:p>
            <a:pPr algn="l">
              <a:lnSpc>
                <a:spcPts val="3674"/>
              </a:lnSpc>
            </a:pPr>
          </a:p>
          <a:p>
            <a:pPr algn="l">
              <a:lnSpc>
                <a:spcPts val="3532"/>
              </a:lnSpc>
            </a:pPr>
            <a:r>
              <a:rPr lang="en-US" sz="294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94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system improves the traditional exam process by making it:</a:t>
            </a:r>
          </a:p>
          <a:p>
            <a:pPr algn="l" marL="636129" indent="-318064" lvl="1">
              <a:lnSpc>
                <a:spcPts val="3532"/>
              </a:lnSpc>
              <a:buFont typeface="Arial"/>
              <a:buChar char="•"/>
            </a:pPr>
            <a:r>
              <a:rPr lang="en-US" sz="294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→ Paper generated in seconds</a:t>
            </a:r>
          </a:p>
          <a:p>
            <a:pPr algn="l" marL="636129" indent="-318064" lvl="1">
              <a:lnSpc>
                <a:spcPts val="3532"/>
              </a:lnSpc>
              <a:buFont typeface="Arial"/>
              <a:buChar char="•"/>
            </a:pPr>
            <a:r>
              <a:rPr lang="en-US" sz="294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→ No manual work</a:t>
            </a:r>
          </a:p>
          <a:p>
            <a:pPr algn="l" marL="636129" indent="-318064" lvl="1">
              <a:lnSpc>
                <a:spcPts val="3532"/>
              </a:lnSpc>
              <a:buFont typeface="Arial"/>
              <a:buChar char="•"/>
            </a:pPr>
            <a:r>
              <a:rPr lang="en-US" sz="294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Balanced → Proper difficulty distribution</a:t>
            </a:r>
          </a:p>
          <a:p>
            <a:pPr algn="l" marL="636129" indent="-318064" lvl="1">
              <a:lnSpc>
                <a:spcPts val="3532"/>
              </a:lnSpc>
              <a:buFont typeface="Arial"/>
              <a:buChar char="•"/>
            </a:pPr>
            <a:r>
              <a:rPr lang="en-US" sz="294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→ Reduces human errors</a:t>
            </a:r>
          </a:p>
          <a:p>
            <a:pPr algn="l">
              <a:lnSpc>
                <a:spcPts val="3393"/>
              </a:lnSpc>
            </a:pPr>
          </a:p>
          <a:p>
            <a:pPr algn="l">
              <a:lnSpc>
                <a:spcPts val="3393"/>
              </a:lnSpc>
            </a:pPr>
            <a:r>
              <a:rPr lang="en-US" sz="2828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2828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for Different Users:-</a:t>
            </a:r>
          </a:p>
          <a:p>
            <a:pPr algn="l">
              <a:lnSpc>
                <a:spcPts val="3535"/>
              </a:lnSpc>
            </a:pPr>
            <a:r>
              <a:rPr lang="en-US" sz="294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For Teachers</a:t>
            </a:r>
          </a:p>
          <a:p>
            <a:pPr algn="l" marL="621909" indent="-207303" lvl="2">
              <a:lnSpc>
                <a:spcPts val="3532"/>
              </a:lnSpc>
              <a:buFont typeface="Arial"/>
              <a:buChar char="⚬"/>
            </a:pPr>
            <a:r>
              <a:rPr lang="en-US" sz="294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time and effort</a:t>
            </a:r>
          </a:p>
          <a:p>
            <a:pPr algn="l" marL="621909" indent="-207303" lvl="2">
              <a:lnSpc>
                <a:spcPts val="3532"/>
              </a:lnSpc>
              <a:buFont typeface="Arial"/>
              <a:buChar char="⚬"/>
            </a:pPr>
            <a:r>
              <a:rPr lang="en-US" sz="294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need to manually create papers</a:t>
            </a:r>
          </a:p>
          <a:p>
            <a:pPr algn="l" marL="621909" indent="-207303" lvl="2">
              <a:lnSpc>
                <a:spcPts val="3532"/>
              </a:lnSpc>
              <a:buFont typeface="Arial"/>
              <a:buChar char="⚬"/>
            </a:pPr>
            <a:r>
              <a:rPr lang="en-US" sz="294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syllabus coverage</a:t>
            </a:r>
          </a:p>
          <a:p>
            <a:pPr algn="l" marL="621943" indent="-207314" lvl="2">
              <a:lnSpc>
                <a:spcPts val="3535"/>
              </a:lnSpc>
              <a:buFont typeface="Arial"/>
              <a:buChar char="⚬"/>
            </a:pPr>
          </a:p>
          <a:p>
            <a:pPr algn="l">
              <a:lnSpc>
                <a:spcPts val="3535"/>
              </a:lnSpc>
            </a:pPr>
            <a:r>
              <a:rPr lang="en-US" sz="294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For Institutions</a:t>
            </a:r>
          </a:p>
          <a:p>
            <a:pPr algn="l" marL="600561" indent="-200187" lvl="2">
              <a:lnSpc>
                <a:spcPts val="3411"/>
              </a:lnSpc>
              <a:buFont typeface="Arial"/>
              <a:buChar char="⚬"/>
            </a:pPr>
            <a:r>
              <a:rPr lang="en-US" sz="2845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Standardized exam pattern</a:t>
            </a:r>
          </a:p>
          <a:p>
            <a:pPr algn="l" marL="621909" indent="-207303" lvl="2">
              <a:lnSpc>
                <a:spcPts val="3532"/>
              </a:lnSpc>
              <a:buFont typeface="Arial"/>
              <a:buChar char="⚬"/>
            </a:pPr>
            <a:r>
              <a:rPr lang="en-US" sz="294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evaluation system</a:t>
            </a:r>
          </a:p>
          <a:p>
            <a:pPr algn="l" marL="621909" indent="-207303" lvl="2">
              <a:lnSpc>
                <a:spcPts val="3532"/>
              </a:lnSpc>
              <a:buFont typeface="Arial"/>
              <a:buChar char="⚬"/>
            </a:pPr>
            <a:r>
              <a:rPr lang="en-US" sz="294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transformation</a:t>
            </a:r>
          </a:p>
          <a:p>
            <a:pPr algn="l" marL="621943" indent="-207314" lvl="2">
              <a:lnSpc>
                <a:spcPts val="3535"/>
              </a:lnSpc>
              <a:buFont typeface="Arial"/>
              <a:buChar char="⚬"/>
            </a:pPr>
          </a:p>
          <a:p>
            <a:pPr algn="l" marL="596977" indent="-198992" lvl="2">
              <a:lnSpc>
                <a:spcPts val="3393"/>
              </a:lnSpc>
            </a:pPr>
          </a:p>
          <a:p>
            <a:pPr algn="l" marL="596977" indent="-198992" lvl="2">
              <a:lnSpc>
                <a:spcPts val="3393"/>
              </a:lnSpc>
            </a:pPr>
          </a:p>
          <a:p>
            <a:pPr algn="l" marL="596977" indent="-198992" lvl="2">
              <a:lnSpc>
                <a:spcPts val="3393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065674" y="2205038"/>
            <a:ext cx="6193626" cy="7329488"/>
          </a:xfrm>
          <a:custGeom>
            <a:avLst/>
            <a:gdLst/>
            <a:ahLst/>
            <a:cxnLst/>
            <a:rect r="r" b="b" t="t" l="l"/>
            <a:pathLst>
              <a:path h="7329488" w="6193626">
                <a:moveTo>
                  <a:pt x="0" y="0"/>
                </a:moveTo>
                <a:lnTo>
                  <a:pt x="6193626" y="0"/>
                </a:lnTo>
                <a:lnTo>
                  <a:pt x="6193626" y="7329487"/>
                </a:lnTo>
                <a:lnTo>
                  <a:pt x="0" y="73294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6152" r="0" b="-20681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98325" y="942975"/>
            <a:ext cx="2293506" cy="55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4"/>
              </a:lnSpc>
            </a:pPr>
            <a:r>
              <a:rPr lang="en-US" sz="3082" b="true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Alkarise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" y="0"/>
            <a:ext cx="15544800" cy="2205038"/>
            <a:chOff x="0" y="0"/>
            <a:chExt cx="20726400" cy="294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2940050"/>
            </a:xfrm>
            <a:custGeom>
              <a:avLst/>
              <a:gdLst/>
              <a:ahLst/>
              <a:cxnLst/>
              <a:rect r="r" b="b" t="t" l="l"/>
              <a:pathLst>
                <a:path h="294005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40050"/>
                  </a:lnTo>
                  <a:lnTo>
                    <a:pt x="0" y="2940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267" r="0" b="-8726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66800" y="-21431"/>
            <a:ext cx="15544800" cy="2226469"/>
            <a:chOff x="0" y="0"/>
            <a:chExt cx="20726400" cy="2968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2968626"/>
            </a:xfrm>
            <a:custGeom>
              <a:avLst/>
              <a:gdLst/>
              <a:ahLst/>
              <a:cxnLst/>
              <a:rect r="r" b="b" t="t" l="l"/>
              <a:pathLst>
                <a:path h="2968626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68626"/>
                  </a:lnTo>
                  <a:lnTo>
                    <a:pt x="0" y="2968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6040" r="0" b="-8604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726400" cy="299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48400" y="9534525"/>
            <a:ext cx="5791200" cy="547688"/>
            <a:chOff x="0" y="0"/>
            <a:chExt cx="7721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21600" cy="730250"/>
            </a:xfrm>
            <a:custGeom>
              <a:avLst/>
              <a:gdLst/>
              <a:ahLst/>
              <a:cxnLst/>
              <a:rect r="r" b="b" t="t" l="l"/>
              <a:pathLst>
                <a:path h="730250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890" r="0" b="-15588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48400" y="9505950"/>
            <a:ext cx="5791200" cy="576262"/>
            <a:chOff x="0" y="0"/>
            <a:chExt cx="7721600" cy="768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21600" cy="768351"/>
            </a:xfrm>
            <a:custGeom>
              <a:avLst/>
              <a:gdLst/>
              <a:ahLst/>
              <a:cxnLst/>
              <a:rect r="r" b="b" t="t" l="l"/>
              <a:pathLst>
                <a:path h="768351" w="7721600">
                  <a:moveTo>
                    <a:pt x="0" y="0"/>
                  </a:moveTo>
                  <a:lnTo>
                    <a:pt x="7721600" y="0"/>
                  </a:lnTo>
                  <a:lnTo>
                    <a:pt x="7721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5816" r="0" b="-1458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721600" cy="80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@SIH Idea submission- Template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106400" y="9505950"/>
            <a:ext cx="4267200" cy="576262"/>
            <a:chOff x="0" y="0"/>
            <a:chExt cx="5689600" cy="7683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89600" cy="768351"/>
            </a:xfrm>
            <a:custGeom>
              <a:avLst/>
              <a:gdLst/>
              <a:ahLst/>
              <a:cxnLst/>
              <a:rect r="r" b="b" t="t" l="l"/>
              <a:pathLst>
                <a:path h="76835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68351"/>
                  </a:lnTo>
                  <a:lnTo>
                    <a:pt x="0" y="7683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285" r="0" b="-9428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689600" cy="80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571402" y="26108"/>
            <a:ext cx="3611118" cy="1727073"/>
            <a:chOff x="0" y="0"/>
            <a:chExt cx="4814824" cy="23027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14824" cy="2302764"/>
            </a:xfrm>
            <a:custGeom>
              <a:avLst/>
              <a:gdLst/>
              <a:ahLst/>
              <a:cxnLst/>
              <a:rect r="r" b="b" t="t" l="l"/>
              <a:pathLst>
                <a:path h="2302764" w="4814824">
                  <a:moveTo>
                    <a:pt x="0" y="0"/>
                  </a:moveTo>
                  <a:lnTo>
                    <a:pt x="4814824" y="0"/>
                  </a:lnTo>
                  <a:lnTo>
                    <a:pt x="4814824" y="2302764"/>
                  </a:lnTo>
                  <a:lnTo>
                    <a:pt x="0" y="2302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84458" y="314496"/>
            <a:ext cx="3086100" cy="2314632"/>
          </a:xfrm>
          <a:custGeom>
            <a:avLst/>
            <a:gdLst/>
            <a:ahLst/>
            <a:cxnLst/>
            <a:rect r="r" b="b" t="t" l="l"/>
            <a:pathLst>
              <a:path h="2314632" w="3086100">
                <a:moveTo>
                  <a:pt x="0" y="0"/>
                </a:moveTo>
                <a:lnTo>
                  <a:pt x="3086100" y="0"/>
                </a:lnTo>
                <a:lnTo>
                  <a:pt x="3086100" y="2314633"/>
                </a:lnTo>
                <a:lnTo>
                  <a:pt x="0" y="23146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0885" y="2736909"/>
            <a:ext cx="17511635" cy="811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1"/>
              </a:lnSpc>
            </a:pPr>
            <a:r>
              <a:rPr lang="en-US" sz="317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Reasearch:-</a:t>
            </a: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Automatic Exam Paper Generator is a rule-based system that creates question papers using a structured question bank stored in a database. Instead of manual paper setting, it applies predefined constraints such as:</a:t>
            </a: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Marks distribution (e.g., 70 marks total)</a:t>
            </a: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Unit-wise syllabus coverage</a:t>
            </a: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levels (Easy/Medium/Hard)</a:t>
            </a:r>
          </a:p>
          <a:p>
            <a:pPr algn="l">
              <a:lnSpc>
                <a:spcPts val="3571"/>
              </a:lnSpc>
            </a:pPr>
          </a:p>
          <a:p>
            <a:pPr algn="l">
              <a:lnSpc>
                <a:spcPts val="3571"/>
              </a:lnSpc>
            </a:pPr>
            <a:r>
              <a:rPr lang="en-US" sz="297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 (Short):-</a:t>
            </a: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Books:</a:t>
            </a: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System Concepts – Database System Concepts</a:t>
            </a: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PHP, MySQL &amp; JavaScript – Learning PHP, MySQL &amp; JavaScript</a:t>
            </a: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Resources:</a:t>
            </a: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PHP Official Documentation – https://www.php.net⁠</a:t>
            </a: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Docs – https://dev.mysql.com⁠</a:t>
            </a: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Area:</a:t>
            </a:r>
          </a:p>
          <a:p>
            <a:pPr algn="l">
              <a:lnSpc>
                <a:spcPts val="3571"/>
              </a:lnSpc>
            </a:pPr>
            <a:r>
              <a:rPr lang="en-US" sz="29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Question Paper Generation Systems</a:t>
            </a:r>
          </a:p>
          <a:p>
            <a:pPr algn="l">
              <a:lnSpc>
                <a:spcPts val="3571"/>
              </a:lnSpc>
            </a:pPr>
          </a:p>
          <a:p>
            <a:pPr algn="l">
              <a:lnSpc>
                <a:spcPts val="3572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42380" y="1016794"/>
            <a:ext cx="1970256" cy="57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sz="323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Alkarise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5402" y="0"/>
            <a:ext cx="15544800" cy="2205038"/>
            <a:chOff x="0" y="0"/>
            <a:chExt cx="20726400" cy="294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2940050"/>
            </a:xfrm>
            <a:custGeom>
              <a:avLst/>
              <a:gdLst/>
              <a:ahLst/>
              <a:cxnLst/>
              <a:rect r="r" b="b" t="t" l="l"/>
              <a:pathLst>
                <a:path h="294005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40050"/>
                  </a:lnTo>
                  <a:lnTo>
                    <a:pt x="0" y="2940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267" r="0" b="-8726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5402" y="243773"/>
            <a:ext cx="15544800" cy="2226469"/>
            <a:chOff x="0" y="0"/>
            <a:chExt cx="20726400" cy="2968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2968626"/>
            </a:xfrm>
            <a:custGeom>
              <a:avLst/>
              <a:gdLst/>
              <a:ahLst/>
              <a:cxnLst/>
              <a:rect r="r" b="b" t="t" l="l"/>
              <a:pathLst>
                <a:path h="2968626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968626"/>
                  </a:lnTo>
                  <a:lnTo>
                    <a:pt x="0" y="29686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040" r="0" b="-8604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726400" cy="299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REQUIREMENTS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94643" y="101746"/>
            <a:ext cx="3611118" cy="1727073"/>
            <a:chOff x="0" y="0"/>
            <a:chExt cx="4814824" cy="23027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4824" cy="2302764"/>
            </a:xfrm>
            <a:custGeom>
              <a:avLst/>
              <a:gdLst/>
              <a:ahLst/>
              <a:cxnLst/>
              <a:rect r="r" b="b" t="t" l="l"/>
              <a:pathLst>
                <a:path h="2302764" w="4814824">
                  <a:moveTo>
                    <a:pt x="0" y="0"/>
                  </a:moveTo>
                  <a:lnTo>
                    <a:pt x="4814824" y="0"/>
                  </a:lnTo>
                  <a:lnTo>
                    <a:pt x="4814824" y="2302764"/>
                  </a:lnTo>
                  <a:lnTo>
                    <a:pt x="0" y="2302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378285" y="243773"/>
            <a:ext cx="3086100" cy="1961264"/>
          </a:xfrm>
          <a:custGeom>
            <a:avLst/>
            <a:gdLst/>
            <a:ahLst/>
            <a:cxnLst/>
            <a:rect r="r" b="b" t="t" l="l"/>
            <a:pathLst>
              <a:path h="1961264" w="3086100">
                <a:moveTo>
                  <a:pt x="0" y="0"/>
                </a:moveTo>
                <a:lnTo>
                  <a:pt x="3086100" y="0"/>
                </a:lnTo>
                <a:lnTo>
                  <a:pt x="3086100" y="1961265"/>
                </a:lnTo>
                <a:lnTo>
                  <a:pt x="0" y="19612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2795" y="2585441"/>
            <a:ext cx="12214119" cy="7098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7"/>
              </a:lnSpc>
            </a:pPr>
            <a:r>
              <a:rPr lang="en-US" sz="294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Hardware Requirements:-</a:t>
            </a:r>
          </a:p>
          <a:p>
            <a:pPr algn="l" marL="621826" indent="-207275" lvl="2">
              <a:lnSpc>
                <a:spcPts val="3537"/>
              </a:lnSpc>
              <a:buFont typeface="Arial"/>
              <a:buChar char="⚬"/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Laptop/PC</a:t>
            </a:r>
          </a:p>
          <a:p>
            <a:pPr algn="l" marL="621826" indent="-207275" lvl="2">
              <a:lnSpc>
                <a:spcPts val="3537"/>
              </a:lnSpc>
              <a:buFont typeface="Arial"/>
              <a:buChar char="⚬"/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4GB RAM</a:t>
            </a:r>
          </a:p>
          <a:p>
            <a:pPr algn="l" marL="622200" indent="-207400" lvl="2">
              <a:lnSpc>
                <a:spcPts val="3537"/>
              </a:lnSpc>
              <a:buFont typeface="Arial"/>
              <a:buChar char="⚬"/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browser</a:t>
            </a:r>
          </a:p>
          <a:p>
            <a:pPr algn="l">
              <a:lnSpc>
                <a:spcPts val="3537"/>
              </a:lnSpc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b="true" sz="294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 Requirements:-</a:t>
            </a:r>
          </a:p>
          <a:p>
            <a:pPr algn="l" marL="621826" indent="-207275" lvl="2">
              <a:lnSpc>
                <a:spcPts val="3537"/>
              </a:lnSpc>
              <a:buFont typeface="Arial"/>
              <a:buChar char="⚬"/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HTML, CSS</a:t>
            </a:r>
          </a:p>
          <a:p>
            <a:pPr algn="l" marL="621826" indent="-207275" lvl="2">
              <a:lnSpc>
                <a:spcPts val="3537"/>
              </a:lnSpc>
              <a:buFont typeface="Arial"/>
              <a:buChar char="⚬"/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PHP,Java</a:t>
            </a:r>
          </a:p>
          <a:p>
            <a:pPr algn="l" marL="621826" indent="-207275" lvl="2">
              <a:lnSpc>
                <a:spcPts val="3537"/>
              </a:lnSpc>
              <a:buFont typeface="Arial"/>
              <a:buChar char="⚬"/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MySQL</a:t>
            </a:r>
          </a:p>
          <a:p>
            <a:pPr algn="l" marL="621826" indent="-207275" lvl="2">
              <a:lnSpc>
                <a:spcPts val="3537"/>
              </a:lnSpc>
              <a:buFont typeface="Arial"/>
              <a:buChar char="⚬"/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Server: XAMPP/WAMP</a:t>
            </a:r>
          </a:p>
          <a:p>
            <a:pPr algn="l" marL="622200" indent="-207400" lvl="2">
              <a:lnSpc>
                <a:spcPts val="3537"/>
              </a:lnSpc>
              <a:buFont typeface="Arial"/>
              <a:buChar char="⚬"/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 Generation: FPDF</a:t>
            </a:r>
          </a:p>
          <a:p>
            <a:pPr algn="l">
              <a:lnSpc>
                <a:spcPts val="3537"/>
              </a:lnSpc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294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Requirements:-</a:t>
            </a:r>
          </a:p>
          <a:p>
            <a:pPr algn="l">
              <a:lnSpc>
                <a:spcPts val="3537"/>
              </a:lnSpc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bank with:</a:t>
            </a:r>
          </a:p>
          <a:p>
            <a:pPr algn="l">
              <a:lnSpc>
                <a:spcPts val="3537"/>
              </a:lnSpc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Unit-wise classification</a:t>
            </a:r>
          </a:p>
          <a:p>
            <a:pPr algn="l">
              <a:lnSpc>
                <a:spcPts val="3537"/>
              </a:lnSpc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tagging</a:t>
            </a:r>
          </a:p>
          <a:p>
            <a:pPr algn="l">
              <a:lnSpc>
                <a:spcPts val="3537"/>
              </a:lnSpc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Marks allocation</a:t>
            </a:r>
          </a:p>
          <a:p>
            <a:pPr algn="l" marL="622200" indent="-207400" lvl="2">
              <a:lnSpc>
                <a:spcPts val="3537"/>
              </a:lnSpc>
            </a:pPr>
            <a:r>
              <a:rPr lang="en-US" sz="29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Predefined rules for selection logic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007844" y="2470242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89" y="0"/>
                </a:lnTo>
                <a:lnTo>
                  <a:pt x="10075289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2795" y="879558"/>
            <a:ext cx="255706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Alkarise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DAHF4zra-yE</dc:identifier>
  <dcterms:modified xsi:type="dcterms:W3CDTF">2011-08-01T06:04:30Z</dcterms:modified>
  <cp:revision>1</cp:revision>
  <dc:title>HACKATHONPPTe.0058cc49e3858c6cc70f.pptx</dc:title>
</cp:coreProperties>
</file>